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EE6084-3D42-4459-8593-091E34C7E68A}" v="7" dt="2026-09-24T03:59:28.162"/>
    <p1510:client id="{80ACB294-1091-1022-843E-4ACC691939F6}" v="217" dt="2026-09-24T03:59:51.7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FDC051-752A-4AD5-945C-B836EE9997E4}" type="datetimeFigureOut">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145346-6217-414C-A115-DC162DD03610}" type="slidenum">
              <a:t>‹#›</a:t>
            </a:fld>
            <a:endParaRPr lang="en-US"/>
          </a:p>
        </p:txBody>
      </p:sp>
    </p:spTree>
    <p:extLst>
      <p:ext uri="{BB962C8B-B14F-4D97-AF65-F5344CB8AC3E}">
        <p14:creationId xmlns:p14="http://schemas.microsoft.com/office/powerpoint/2010/main" val="3703643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project is called Fit District. It's a clothing platform designed mainly for shoppers between 18 and 30. The problem we're trying to solve is that people often have to search through multiple websites to find specific or trending clothing. Fit District brings those providers together in one place so users can discover clothing, compare their options, and save time.</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C6145346-6217-414C-A115-DC162DD03610}" type="slidenum">
              <a:t>1</a:t>
            </a:fld>
            <a:endParaRPr lang="en-US"/>
          </a:p>
        </p:txBody>
      </p:sp>
    </p:spTree>
    <p:extLst>
      <p:ext uri="{BB962C8B-B14F-4D97-AF65-F5344CB8AC3E}">
        <p14:creationId xmlns:p14="http://schemas.microsoft.com/office/powerpoint/2010/main" val="1257230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My main responsibility for this milestone was the customer side of Fit District. I worked on the interface customers would use to browse clothing, subscribe to providers, leave reviews, and manage their profile. I also focused on making it easy for customers to navigate between these different sections.</a:t>
            </a:r>
          </a:p>
        </p:txBody>
      </p:sp>
      <p:sp>
        <p:nvSpPr>
          <p:cNvPr id="4" name="Slide Number Placeholder 3"/>
          <p:cNvSpPr>
            <a:spLocks noGrp="1"/>
          </p:cNvSpPr>
          <p:nvPr>
            <p:ph type="sldNum" sz="quarter" idx="5"/>
          </p:nvPr>
        </p:nvSpPr>
        <p:spPr/>
        <p:txBody>
          <a:bodyPr/>
          <a:lstStyle/>
          <a:p>
            <a:fld id="{C6145346-6217-414C-A115-DC162DD03610}" type="slidenum">
              <a:t>3</a:t>
            </a:fld>
            <a:endParaRPr lang="en-US"/>
          </a:p>
        </p:txBody>
      </p:sp>
    </p:spTree>
    <p:extLst>
      <p:ext uri="{BB962C8B-B14F-4D97-AF65-F5344CB8AC3E}">
        <p14:creationId xmlns:p14="http://schemas.microsoft.com/office/powerpoint/2010/main" val="1068550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652343"/>
            <a:ext cx="5486400" cy="615553"/>
          </a:xfrm>
          <a:prstGeom prst="rect">
            <a:avLst/>
          </a:prstGeom>
          <a:noFill/>
        </p:spPr>
        <p:txBody>
          <a:bodyPr wrap="square" lIns="91440" tIns="45720" rIns="91440" bIns="45720" anchor="ctr">
            <a:spAutoFit/>
          </a:bodyPr>
          <a:lstStyle/>
          <a:p>
            <a:pPr algn="l"/>
            <a:r>
              <a:rPr sz="3400" b="1">
                <a:latin typeface="Aptos"/>
              </a:rPr>
              <a:t>FIT DISTRICT</a:t>
            </a:r>
            <a:endParaRPr lang="en-US" sz="3400" b="1">
              <a:latin typeface="Aptos"/>
            </a:endParaRPr>
          </a:p>
        </p:txBody>
      </p:sp>
      <p:sp>
        <p:nvSpPr>
          <p:cNvPr id="3" name="TextBox 2"/>
          <p:cNvSpPr txBox="1"/>
          <p:nvPr/>
        </p:nvSpPr>
        <p:spPr>
          <a:xfrm>
            <a:off x="749808" y="1298448"/>
            <a:ext cx="5303520" cy="411480"/>
          </a:xfrm>
          <a:prstGeom prst="rect">
            <a:avLst/>
          </a:prstGeom>
          <a:noFill/>
        </p:spPr>
        <p:txBody>
          <a:bodyPr wrap="square" anchor="ctr">
            <a:spAutoFit/>
          </a:bodyPr>
          <a:lstStyle/>
          <a:p>
            <a:pPr algn="l"/>
            <a:r>
              <a:rPr sz="2000" b="1">
                <a:solidFill>
                  <a:srgbClr val="F2B705"/>
                </a:solidFill>
                <a:latin typeface="Aptos"/>
              </a:rPr>
              <a:t>Discover. Compare. Save.</a:t>
            </a:r>
          </a:p>
        </p:txBody>
      </p:sp>
      <p:sp>
        <p:nvSpPr>
          <p:cNvPr id="4" name="TextBox 3"/>
          <p:cNvSpPr txBox="1"/>
          <p:nvPr/>
        </p:nvSpPr>
        <p:spPr>
          <a:xfrm>
            <a:off x="749808" y="1777721"/>
            <a:ext cx="4937760" cy="1107996"/>
          </a:xfrm>
          <a:prstGeom prst="rect">
            <a:avLst/>
          </a:prstGeom>
          <a:noFill/>
        </p:spPr>
        <p:txBody>
          <a:bodyPr wrap="square" lIns="91440" tIns="45720" rIns="91440" bIns="45720" anchor="ctr">
            <a:spAutoFit/>
          </a:bodyPr>
          <a:lstStyle/>
          <a:p>
            <a:r>
              <a:rPr lang="en-US" sz="2200">
                <a:ea typeface="+mn-lt"/>
                <a:cs typeface="+mn-lt"/>
              </a:rPr>
              <a:t>Fit District </a:t>
            </a:r>
            <a:r>
              <a:rPr lang="en-US" sz="2200" b="0">
                <a:ea typeface="+mn-lt"/>
                <a:cs typeface="+mn-lt"/>
              </a:rPr>
              <a:t>brings multiple </a:t>
            </a:r>
            <a:r>
              <a:rPr lang="en-US" sz="2200">
                <a:ea typeface="+mn-lt"/>
                <a:cs typeface="+mn-lt"/>
              </a:rPr>
              <a:t>clothing </a:t>
            </a:r>
            <a:r>
              <a:rPr lang="en-US" sz="2200" b="0">
                <a:ea typeface="+mn-lt"/>
                <a:cs typeface="+mn-lt"/>
              </a:rPr>
              <a:t>providers into one place</a:t>
            </a:r>
            <a:r>
              <a:rPr lang="en-US" sz="2200">
                <a:ea typeface="+mn-lt"/>
                <a:cs typeface="+mn-lt"/>
              </a:rPr>
              <a:t> so users can discover, compare, and save.</a:t>
            </a:r>
            <a:endParaRPr lang="en-US">
              <a:ea typeface="Calibri"/>
              <a:cs typeface="Calibri"/>
            </a:endParaRPr>
          </a:p>
        </p:txBody>
      </p:sp>
      <p:sp>
        <p:nvSpPr>
          <p:cNvPr id="5" name="TextBox 4"/>
          <p:cNvSpPr txBox="1"/>
          <p:nvPr/>
        </p:nvSpPr>
        <p:spPr>
          <a:xfrm>
            <a:off x="777240" y="2886715"/>
            <a:ext cx="1417320" cy="261610"/>
          </a:xfrm>
          <a:prstGeom prst="rect">
            <a:avLst/>
          </a:prstGeom>
          <a:noFill/>
        </p:spPr>
        <p:txBody>
          <a:bodyPr wrap="square" lIns="91440" tIns="45720" rIns="91440" bIns="45720" anchor="ctr">
            <a:spAutoFit/>
          </a:bodyPr>
          <a:lstStyle/>
          <a:p>
            <a:pPr algn="l"/>
            <a:r>
              <a:rPr sz="1100" b="1">
                <a:latin typeface="Aptos"/>
              </a:rPr>
              <a:t>TARGET USERS</a:t>
            </a:r>
            <a:endParaRPr lang="en-US" sz="1100" b="1">
              <a:latin typeface="Aptos"/>
            </a:endParaRPr>
          </a:p>
        </p:txBody>
      </p:sp>
      <p:sp>
        <p:nvSpPr>
          <p:cNvPr id="6" name="TextBox 5"/>
          <p:cNvSpPr txBox="1"/>
          <p:nvPr/>
        </p:nvSpPr>
        <p:spPr>
          <a:xfrm>
            <a:off x="2057400" y="3005363"/>
            <a:ext cx="3657600" cy="307777"/>
          </a:xfrm>
          <a:prstGeom prst="rect">
            <a:avLst/>
          </a:prstGeom>
          <a:noFill/>
        </p:spPr>
        <p:txBody>
          <a:bodyPr wrap="square" lIns="91440" tIns="45720" rIns="91440" bIns="45720" anchor="ctr">
            <a:spAutoFit/>
          </a:bodyPr>
          <a:lstStyle/>
          <a:p>
            <a:pPr algn="l"/>
            <a:r>
              <a:rPr sz="1400" b="0">
                <a:latin typeface="Aptos"/>
              </a:rPr>
              <a:t>Shoppers ages 18–30</a:t>
            </a:r>
            <a:endParaRPr lang="en-US" sz="1400" b="0">
              <a:latin typeface="Aptos"/>
            </a:endParaRPr>
          </a:p>
        </p:txBody>
      </p:sp>
      <p:sp>
        <p:nvSpPr>
          <p:cNvPr id="7" name="TextBox 6"/>
          <p:cNvSpPr txBox="1"/>
          <p:nvPr/>
        </p:nvSpPr>
        <p:spPr>
          <a:xfrm>
            <a:off x="777240" y="3846835"/>
            <a:ext cx="1417320" cy="261610"/>
          </a:xfrm>
          <a:prstGeom prst="rect">
            <a:avLst/>
          </a:prstGeom>
          <a:noFill/>
        </p:spPr>
        <p:txBody>
          <a:bodyPr wrap="square" lIns="91440" tIns="45720" rIns="91440" bIns="45720" anchor="ctr">
            <a:spAutoFit/>
          </a:bodyPr>
          <a:lstStyle/>
          <a:p>
            <a:pPr algn="l"/>
            <a:r>
              <a:rPr sz="1100" b="1">
                <a:latin typeface="Aptos"/>
              </a:rPr>
              <a:t>PROBLEM</a:t>
            </a:r>
            <a:endParaRPr lang="en-US" sz="1100" b="1">
              <a:latin typeface="Aptos"/>
            </a:endParaRPr>
          </a:p>
        </p:txBody>
      </p:sp>
      <p:sp>
        <p:nvSpPr>
          <p:cNvPr id="8" name="TextBox 7"/>
          <p:cNvSpPr txBox="1"/>
          <p:nvPr/>
        </p:nvSpPr>
        <p:spPr>
          <a:xfrm>
            <a:off x="2057400" y="3857762"/>
            <a:ext cx="3657600" cy="523220"/>
          </a:xfrm>
          <a:prstGeom prst="rect">
            <a:avLst/>
          </a:prstGeom>
          <a:noFill/>
        </p:spPr>
        <p:txBody>
          <a:bodyPr wrap="square" lIns="91440" tIns="45720" rIns="91440" bIns="45720" anchor="ctr">
            <a:spAutoFit/>
          </a:bodyPr>
          <a:lstStyle/>
          <a:p>
            <a:pPr algn="l"/>
            <a:r>
              <a:rPr sz="1400" b="0">
                <a:latin typeface="Aptos"/>
              </a:rPr>
              <a:t>Finding specific or trending items across different stores takes too much time</a:t>
            </a:r>
            <a:r>
              <a:rPr sz="1400" b="0">
                <a:solidFill>
                  <a:srgbClr val="1E2430"/>
                </a:solidFill>
                <a:latin typeface="Aptos"/>
              </a:rPr>
              <a:t>.</a:t>
            </a:r>
          </a:p>
        </p:txBody>
      </p:sp>
      <p:sp>
        <p:nvSpPr>
          <p:cNvPr id="9" name="TextBox 8"/>
          <p:cNvSpPr txBox="1"/>
          <p:nvPr/>
        </p:nvSpPr>
        <p:spPr>
          <a:xfrm>
            <a:off x="777240" y="4806955"/>
            <a:ext cx="1417320" cy="261610"/>
          </a:xfrm>
          <a:prstGeom prst="rect">
            <a:avLst/>
          </a:prstGeom>
          <a:noFill/>
        </p:spPr>
        <p:txBody>
          <a:bodyPr wrap="square" lIns="91440" tIns="45720" rIns="91440" bIns="45720" anchor="ctr">
            <a:spAutoFit/>
          </a:bodyPr>
          <a:lstStyle/>
          <a:p>
            <a:pPr algn="l"/>
            <a:r>
              <a:rPr lang="en-US" sz="1100" b="1">
                <a:latin typeface="Aptos"/>
              </a:rPr>
              <a:t>SOLUTION</a:t>
            </a:r>
          </a:p>
        </p:txBody>
      </p:sp>
      <p:sp>
        <p:nvSpPr>
          <p:cNvPr id="10" name="TextBox 9"/>
          <p:cNvSpPr txBox="1"/>
          <p:nvPr/>
        </p:nvSpPr>
        <p:spPr>
          <a:xfrm>
            <a:off x="2057400" y="4817882"/>
            <a:ext cx="3657600" cy="523220"/>
          </a:xfrm>
          <a:prstGeom prst="rect">
            <a:avLst/>
          </a:prstGeom>
          <a:noFill/>
        </p:spPr>
        <p:txBody>
          <a:bodyPr wrap="square" lIns="91440" tIns="45720" rIns="91440" bIns="45720" anchor="ctr">
            <a:spAutoFit/>
          </a:bodyPr>
          <a:lstStyle/>
          <a:p>
            <a:pPr algn="l"/>
            <a:r>
              <a:rPr lang="en-US" sz="1400" b="0">
                <a:latin typeface="Aptos"/>
              </a:rPr>
              <a:t>One place to discover clothing, compare options, and save time.</a:t>
            </a:r>
          </a:p>
        </p:txBody>
      </p:sp>
      <p:sp>
        <p:nvSpPr>
          <p:cNvPr id="11" name="Rounded Rectangle 10"/>
          <p:cNvSpPr/>
          <p:nvPr/>
        </p:nvSpPr>
        <p:spPr>
          <a:xfrm>
            <a:off x="6400800" y="731520"/>
            <a:ext cx="4983480" cy="5349240"/>
          </a:xfrm>
          <a:prstGeom prst="roundRect">
            <a:avLst/>
          </a:prstGeom>
          <a:solidFill>
            <a:srgbClr val="FFFFFF"/>
          </a:solidFill>
          <a:ln>
            <a:solidFill>
              <a:srgbClr val="D8DC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a:extLst>
              <a:ext uri="{FF2B5EF4-FFF2-40B4-BE49-F238E27FC236}">
                <a16:creationId xmlns:a16="http://schemas.microsoft.com/office/drawing/2014/main" id="{0A975B05-62FF-46EC-C767-E0D9A028370E}"/>
              </a:ext>
            </a:extLst>
          </p:cNvPr>
          <p:cNvPicPr>
            <a:picLocks noChangeAspect="1"/>
          </p:cNvPicPr>
          <p:nvPr/>
        </p:nvPicPr>
        <p:blipFill>
          <a:blip r:embed="rId3"/>
          <a:srcRect l="31" t="-431" r="-120" b="14649"/>
          <a:stretch>
            <a:fillRect/>
          </a:stretch>
        </p:blipFill>
        <p:spPr>
          <a:xfrm>
            <a:off x="6218677" y="572204"/>
            <a:ext cx="5591678" cy="55294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square" anchor="ctr">
            <a:spAutoFit/>
          </a:bodyPr>
          <a:lstStyle/>
          <a:p>
            <a:pPr algn="l"/>
            <a:r>
              <a:rPr sz="2800" b="1">
                <a:solidFill>
                  <a:srgbClr val="10244A"/>
                </a:solidFill>
                <a:latin typeface="Aptos"/>
              </a:rPr>
              <a:t>Main Functionality</a:t>
            </a:r>
          </a:p>
        </p:txBody>
      </p:sp>
      <p:sp>
        <p:nvSpPr>
          <p:cNvPr id="3" name="Rectangle 2"/>
          <p:cNvSpPr/>
          <p:nvPr/>
        </p:nvSpPr>
        <p:spPr>
          <a:xfrm>
            <a:off x="685800" y="1078992"/>
            <a:ext cx="1051560" cy="54864"/>
          </a:xfrm>
          <a:prstGeom prst="rect">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74519" y="932688"/>
            <a:ext cx="9144000" cy="365760"/>
          </a:xfrm>
          <a:prstGeom prst="rect">
            <a:avLst/>
          </a:prstGeom>
          <a:noFill/>
        </p:spPr>
        <p:txBody>
          <a:bodyPr wrap="square" anchor="ctr">
            <a:spAutoFit/>
          </a:bodyPr>
          <a:lstStyle/>
          <a:p>
            <a:pPr algn="l"/>
            <a:r>
              <a:rPr sz="1200" b="0">
                <a:solidFill>
                  <a:srgbClr val="5B6472"/>
                </a:solidFill>
                <a:latin typeface="Aptos"/>
              </a:rPr>
              <a:t>What users can do in the Fit District prototype</a:t>
            </a:r>
          </a:p>
        </p:txBody>
      </p:sp>
      <p:sp>
        <p:nvSpPr>
          <p:cNvPr id="5" name="Rounded Rectangle 4"/>
          <p:cNvSpPr/>
          <p:nvPr/>
        </p:nvSpPr>
        <p:spPr>
          <a:xfrm>
            <a:off x="731520" y="1508760"/>
            <a:ext cx="2971800" cy="1600200"/>
          </a:xfrm>
          <a:prstGeom prst="roundRect">
            <a:avLst/>
          </a:prstGeom>
          <a:solidFill>
            <a:srgbClr val="F5F6F8"/>
          </a:solidFill>
          <a:ln>
            <a:solidFill>
              <a:srgbClr val="E3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673351"/>
            <a:ext cx="411480" cy="320040"/>
          </a:xfrm>
          <a:prstGeom prst="rect">
            <a:avLst/>
          </a:prstGeom>
          <a:noFill/>
        </p:spPr>
        <p:txBody>
          <a:bodyPr wrap="square" anchor="ctr">
            <a:spAutoFit/>
          </a:bodyPr>
          <a:lstStyle/>
          <a:p>
            <a:pPr algn="l"/>
            <a:r>
              <a:rPr sz="1200" b="1">
                <a:solidFill>
                  <a:srgbClr val="F2B705"/>
                </a:solidFill>
                <a:latin typeface="Aptos"/>
              </a:rPr>
              <a:t>01</a:t>
            </a:r>
          </a:p>
        </p:txBody>
      </p:sp>
      <p:sp>
        <p:nvSpPr>
          <p:cNvPr id="7" name="TextBox 6"/>
          <p:cNvSpPr txBox="1"/>
          <p:nvPr/>
        </p:nvSpPr>
        <p:spPr>
          <a:xfrm>
            <a:off x="896112" y="2011680"/>
            <a:ext cx="2606040" cy="411480"/>
          </a:xfrm>
          <a:prstGeom prst="rect">
            <a:avLst/>
          </a:prstGeom>
          <a:noFill/>
        </p:spPr>
        <p:txBody>
          <a:bodyPr wrap="square" anchor="ctr">
            <a:spAutoFit/>
          </a:bodyPr>
          <a:lstStyle/>
          <a:p>
            <a:pPr algn="l"/>
            <a:r>
              <a:rPr sz="1700" b="1">
                <a:solidFill>
                  <a:srgbClr val="10244A"/>
                </a:solidFill>
                <a:latin typeface="Aptos"/>
              </a:rPr>
              <a:t>Create an Account</a:t>
            </a:r>
          </a:p>
        </p:txBody>
      </p:sp>
      <p:sp>
        <p:nvSpPr>
          <p:cNvPr id="8" name="TextBox 7"/>
          <p:cNvSpPr txBox="1"/>
          <p:nvPr/>
        </p:nvSpPr>
        <p:spPr>
          <a:xfrm>
            <a:off x="896112" y="2441448"/>
            <a:ext cx="2606040" cy="530352"/>
          </a:xfrm>
          <a:prstGeom prst="rect">
            <a:avLst/>
          </a:prstGeom>
          <a:noFill/>
        </p:spPr>
        <p:txBody>
          <a:bodyPr wrap="square" anchor="ctr">
            <a:spAutoFit/>
          </a:bodyPr>
          <a:lstStyle/>
          <a:p>
            <a:pPr algn="l"/>
            <a:r>
              <a:rPr sz="1200" b="0">
                <a:solidFill>
                  <a:srgbClr val="5B6472"/>
                </a:solidFill>
                <a:latin typeface="Aptos"/>
              </a:rPr>
              <a:t>Set up and manage a user profile.</a:t>
            </a:r>
          </a:p>
        </p:txBody>
      </p:sp>
      <p:sp>
        <p:nvSpPr>
          <p:cNvPr id="9" name="Rounded Rectangle 8"/>
          <p:cNvSpPr/>
          <p:nvPr/>
        </p:nvSpPr>
        <p:spPr>
          <a:xfrm>
            <a:off x="4160520" y="1508760"/>
            <a:ext cx="2971800" cy="1600200"/>
          </a:xfrm>
          <a:prstGeom prst="roundRect">
            <a:avLst/>
          </a:prstGeom>
          <a:solidFill>
            <a:srgbClr val="F5F6F8"/>
          </a:solidFill>
          <a:ln>
            <a:solidFill>
              <a:srgbClr val="E3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25112" y="1673351"/>
            <a:ext cx="411480" cy="320040"/>
          </a:xfrm>
          <a:prstGeom prst="rect">
            <a:avLst/>
          </a:prstGeom>
          <a:noFill/>
        </p:spPr>
        <p:txBody>
          <a:bodyPr wrap="square" anchor="ctr">
            <a:spAutoFit/>
          </a:bodyPr>
          <a:lstStyle/>
          <a:p>
            <a:pPr algn="l"/>
            <a:r>
              <a:rPr sz="1200" b="1">
                <a:solidFill>
                  <a:srgbClr val="F2B705"/>
                </a:solidFill>
                <a:latin typeface="Aptos"/>
              </a:rPr>
              <a:t>02</a:t>
            </a:r>
          </a:p>
        </p:txBody>
      </p:sp>
      <p:sp>
        <p:nvSpPr>
          <p:cNvPr id="11" name="TextBox 10"/>
          <p:cNvSpPr txBox="1"/>
          <p:nvPr/>
        </p:nvSpPr>
        <p:spPr>
          <a:xfrm>
            <a:off x="4325112" y="2011680"/>
            <a:ext cx="2606040" cy="411480"/>
          </a:xfrm>
          <a:prstGeom prst="rect">
            <a:avLst/>
          </a:prstGeom>
          <a:noFill/>
        </p:spPr>
        <p:txBody>
          <a:bodyPr wrap="square" anchor="ctr">
            <a:spAutoFit/>
          </a:bodyPr>
          <a:lstStyle/>
          <a:p>
            <a:pPr algn="l"/>
            <a:r>
              <a:rPr sz="1700" b="1">
                <a:solidFill>
                  <a:srgbClr val="10244A"/>
                </a:solidFill>
                <a:latin typeface="Aptos"/>
              </a:rPr>
              <a:t>Browse Providers</a:t>
            </a:r>
          </a:p>
        </p:txBody>
      </p:sp>
      <p:sp>
        <p:nvSpPr>
          <p:cNvPr id="12" name="TextBox 11"/>
          <p:cNvSpPr txBox="1"/>
          <p:nvPr/>
        </p:nvSpPr>
        <p:spPr>
          <a:xfrm>
            <a:off x="4325112" y="2441448"/>
            <a:ext cx="2606040" cy="530352"/>
          </a:xfrm>
          <a:prstGeom prst="rect">
            <a:avLst/>
          </a:prstGeom>
          <a:noFill/>
        </p:spPr>
        <p:txBody>
          <a:bodyPr wrap="square" anchor="ctr">
            <a:spAutoFit/>
          </a:bodyPr>
          <a:lstStyle/>
          <a:p>
            <a:pPr algn="l"/>
            <a:r>
              <a:rPr sz="1200" b="0">
                <a:solidFill>
                  <a:srgbClr val="5B6472"/>
                </a:solidFill>
                <a:latin typeface="Aptos"/>
              </a:rPr>
              <a:t>Explore clothing from multiple retail providers.</a:t>
            </a:r>
          </a:p>
        </p:txBody>
      </p:sp>
      <p:sp>
        <p:nvSpPr>
          <p:cNvPr id="13" name="Rounded Rectangle 12"/>
          <p:cNvSpPr/>
          <p:nvPr/>
        </p:nvSpPr>
        <p:spPr>
          <a:xfrm>
            <a:off x="7589520" y="1508760"/>
            <a:ext cx="2971800" cy="1600200"/>
          </a:xfrm>
          <a:prstGeom prst="roundRect">
            <a:avLst/>
          </a:prstGeom>
          <a:solidFill>
            <a:srgbClr val="F5F6F8"/>
          </a:solidFill>
          <a:ln>
            <a:solidFill>
              <a:srgbClr val="E3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54112" y="1673351"/>
            <a:ext cx="411480" cy="320040"/>
          </a:xfrm>
          <a:prstGeom prst="rect">
            <a:avLst/>
          </a:prstGeom>
          <a:noFill/>
        </p:spPr>
        <p:txBody>
          <a:bodyPr wrap="square" anchor="ctr">
            <a:spAutoFit/>
          </a:bodyPr>
          <a:lstStyle/>
          <a:p>
            <a:pPr algn="l"/>
            <a:r>
              <a:rPr sz="1200" b="1">
                <a:solidFill>
                  <a:srgbClr val="F2B705"/>
                </a:solidFill>
                <a:latin typeface="Aptos"/>
              </a:rPr>
              <a:t>03</a:t>
            </a:r>
          </a:p>
        </p:txBody>
      </p:sp>
      <p:sp>
        <p:nvSpPr>
          <p:cNvPr id="15" name="TextBox 14"/>
          <p:cNvSpPr txBox="1"/>
          <p:nvPr/>
        </p:nvSpPr>
        <p:spPr>
          <a:xfrm>
            <a:off x="7754112" y="2011680"/>
            <a:ext cx="2606040" cy="411480"/>
          </a:xfrm>
          <a:prstGeom prst="rect">
            <a:avLst/>
          </a:prstGeom>
          <a:noFill/>
        </p:spPr>
        <p:txBody>
          <a:bodyPr wrap="square" anchor="ctr">
            <a:spAutoFit/>
          </a:bodyPr>
          <a:lstStyle/>
          <a:p>
            <a:pPr algn="l"/>
            <a:r>
              <a:rPr sz="1700" b="1">
                <a:solidFill>
                  <a:srgbClr val="10244A"/>
                </a:solidFill>
                <a:latin typeface="Aptos"/>
              </a:rPr>
              <a:t>Discover Products</a:t>
            </a:r>
          </a:p>
        </p:txBody>
      </p:sp>
      <p:sp>
        <p:nvSpPr>
          <p:cNvPr id="16" name="TextBox 15"/>
          <p:cNvSpPr txBox="1"/>
          <p:nvPr/>
        </p:nvSpPr>
        <p:spPr>
          <a:xfrm>
            <a:off x="7754112" y="2441448"/>
            <a:ext cx="2606040" cy="530352"/>
          </a:xfrm>
          <a:prstGeom prst="rect">
            <a:avLst/>
          </a:prstGeom>
          <a:noFill/>
        </p:spPr>
        <p:txBody>
          <a:bodyPr wrap="square" anchor="ctr">
            <a:spAutoFit/>
          </a:bodyPr>
          <a:lstStyle/>
          <a:p>
            <a:pPr algn="l"/>
            <a:r>
              <a:rPr sz="1200" b="0">
                <a:solidFill>
                  <a:srgbClr val="5B6472"/>
                </a:solidFill>
                <a:latin typeface="Aptos"/>
              </a:rPr>
              <a:t>Find specific and trending clothing items.</a:t>
            </a:r>
          </a:p>
        </p:txBody>
      </p:sp>
      <p:sp>
        <p:nvSpPr>
          <p:cNvPr id="17" name="Rounded Rectangle 16"/>
          <p:cNvSpPr/>
          <p:nvPr/>
        </p:nvSpPr>
        <p:spPr>
          <a:xfrm>
            <a:off x="731520" y="3703320"/>
            <a:ext cx="2971800" cy="1600200"/>
          </a:xfrm>
          <a:prstGeom prst="roundRect">
            <a:avLst/>
          </a:prstGeom>
          <a:solidFill>
            <a:srgbClr val="F5F6F8"/>
          </a:solidFill>
          <a:ln>
            <a:solidFill>
              <a:srgbClr val="E3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 y="3867911"/>
            <a:ext cx="411480" cy="320040"/>
          </a:xfrm>
          <a:prstGeom prst="rect">
            <a:avLst/>
          </a:prstGeom>
          <a:noFill/>
        </p:spPr>
        <p:txBody>
          <a:bodyPr wrap="square" anchor="ctr">
            <a:spAutoFit/>
          </a:bodyPr>
          <a:lstStyle/>
          <a:p>
            <a:pPr algn="l"/>
            <a:r>
              <a:rPr sz="1200" b="1">
                <a:solidFill>
                  <a:srgbClr val="F2B705"/>
                </a:solidFill>
                <a:latin typeface="Aptos"/>
              </a:rPr>
              <a:t>04</a:t>
            </a:r>
          </a:p>
        </p:txBody>
      </p:sp>
      <p:sp>
        <p:nvSpPr>
          <p:cNvPr id="19" name="TextBox 18"/>
          <p:cNvSpPr txBox="1"/>
          <p:nvPr/>
        </p:nvSpPr>
        <p:spPr>
          <a:xfrm>
            <a:off x="896112" y="4206240"/>
            <a:ext cx="2606040" cy="411480"/>
          </a:xfrm>
          <a:prstGeom prst="rect">
            <a:avLst/>
          </a:prstGeom>
          <a:noFill/>
        </p:spPr>
        <p:txBody>
          <a:bodyPr wrap="square" anchor="ctr">
            <a:spAutoFit/>
          </a:bodyPr>
          <a:lstStyle/>
          <a:p>
            <a:pPr algn="l"/>
            <a:r>
              <a:rPr sz="1700" b="1">
                <a:solidFill>
                  <a:srgbClr val="10244A"/>
                </a:solidFill>
                <a:latin typeface="Aptos"/>
              </a:rPr>
              <a:t>Subscriptions</a:t>
            </a:r>
          </a:p>
        </p:txBody>
      </p:sp>
      <p:sp>
        <p:nvSpPr>
          <p:cNvPr id="20" name="TextBox 19"/>
          <p:cNvSpPr txBox="1"/>
          <p:nvPr/>
        </p:nvSpPr>
        <p:spPr>
          <a:xfrm>
            <a:off x="896112" y="4636008"/>
            <a:ext cx="2606040" cy="530352"/>
          </a:xfrm>
          <a:prstGeom prst="rect">
            <a:avLst/>
          </a:prstGeom>
          <a:noFill/>
        </p:spPr>
        <p:txBody>
          <a:bodyPr wrap="square" anchor="ctr">
            <a:spAutoFit/>
          </a:bodyPr>
          <a:lstStyle/>
          <a:p>
            <a:pPr algn="l"/>
            <a:r>
              <a:rPr sz="1200" b="0">
                <a:solidFill>
                  <a:srgbClr val="5B6472"/>
                </a:solidFill>
                <a:latin typeface="Aptos"/>
              </a:rPr>
              <a:t>Subscribe to preferred providers.</a:t>
            </a:r>
          </a:p>
        </p:txBody>
      </p:sp>
      <p:sp>
        <p:nvSpPr>
          <p:cNvPr id="21" name="Rounded Rectangle 20"/>
          <p:cNvSpPr/>
          <p:nvPr/>
        </p:nvSpPr>
        <p:spPr>
          <a:xfrm>
            <a:off x="4160520" y="3703320"/>
            <a:ext cx="2971800" cy="1600200"/>
          </a:xfrm>
          <a:prstGeom prst="roundRect">
            <a:avLst/>
          </a:prstGeom>
          <a:solidFill>
            <a:srgbClr val="F5F6F8"/>
          </a:solidFill>
          <a:ln>
            <a:solidFill>
              <a:srgbClr val="E3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25112" y="3867911"/>
            <a:ext cx="411480" cy="320040"/>
          </a:xfrm>
          <a:prstGeom prst="rect">
            <a:avLst/>
          </a:prstGeom>
          <a:noFill/>
        </p:spPr>
        <p:txBody>
          <a:bodyPr wrap="square" anchor="ctr">
            <a:spAutoFit/>
          </a:bodyPr>
          <a:lstStyle/>
          <a:p>
            <a:pPr algn="l"/>
            <a:r>
              <a:rPr sz="1200" b="1">
                <a:solidFill>
                  <a:srgbClr val="F2B705"/>
                </a:solidFill>
                <a:latin typeface="Aptos"/>
              </a:rPr>
              <a:t>05</a:t>
            </a:r>
          </a:p>
        </p:txBody>
      </p:sp>
      <p:sp>
        <p:nvSpPr>
          <p:cNvPr id="23" name="TextBox 22"/>
          <p:cNvSpPr txBox="1"/>
          <p:nvPr/>
        </p:nvSpPr>
        <p:spPr>
          <a:xfrm>
            <a:off x="4325112" y="4206240"/>
            <a:ext cx="2606040" cy="411480"/>
          </a:xfrm>
          <a:prstGeom prst="rect">
            <a:avLst/>
          </a:prstGeom>
          <a:noFill/>
        </p:spPr>
        <p:txBody>
          <a:bodyPr wrap="square" anchor="ctr">
            <a:spAutoFit/>
          </a:bodyPr>
          <a:lstStyle/>
          <a:p>
            <a:pPr algn="l"/>
            <a:r>
              <a:rPr sz="1700" b="1">
                <a:solidFill>
                  <a:srgbClr val="10244A"/>
                </a:solidFill>
                <a:latin typeface="Aptos"/>
              </a:rPr>
              <a:t>Reviews</a:t>
            </a:r>
          </a:p>
        </p:txBody>
      </p:sp>
      <p:sp>
        <p:nvSpPr>
          <p:cNvPr id="24" name="TextBox 23"/>
          <p:cNvSpPr txBox="1"/>
          <p:nvPr/>
        </p:nvSpPr>
        <p:spPr>
          <a:xfrm>
            <a:off x="4325112" y="4636008"/>
            <a:ext cx="2606040" cy="530352"/>
          </a:xfrm>
          <a:prstGeom prst="rect">
            <a:avLst/>
          </a:prstGeom>
          <a:noFill/>
        </p:spPr>
        <p:txBody>
          <a:bodyPr wrap="square" anchor="ctr">
            <a:spAutoFit/>
          </a:bodyPr>
          <a:lstStyle/>
          <a:p>
            <a:pPr algn="l"/>
            <a:r>
              <a:rPr sz="1200" b="0">
                <a:solidFill>
                  <a:srgbClr val="5B6472"/>
                </a:solidFill>
                <a:latin typeface="Aptos"/>
              </a:rPr>
              <a:t>View and leave feedback for providers.</a:t>
            </a:r>
          </a:p>
        </p:txBody>
      </p:sp>
      <p:sp>
        <p:nvSpPr>
          <p:cNvPr id="25" name="Rounded Rectangle 24"/>
          <p:cNvSpPr/>
          <p:nvPr/>
        </p:nvSpPr>
        <p:spPr>
          <a:xfrm>
            <a:off x="7589520" y="3703320"/>
            <a:ext cx="2971800" cy="1600200"/>
          </a:xfrm>
          <a:prstGeom prst="roundRect">
            <a:avLst/>
          </a:prstGeom>
          <a:solidFill>
            <a:srgbClr val="F5F6F8"/>
          </a:solidFill>
          <a:ln>
            <a:solidFill>
              <a:srgbClr val="E3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54112" y="3867911"/>
            <a:ext cx="411480" cy="320040"/>
          </a:xfrm>
          <a:prstGeom prst="rect">
            <a:avLst/>
          </a:prstGeom>
          <a:noFill/>
        </p:spPr>
        <p:txBody>
          <a:bodyPr wrap="square" anchor="ctr">
            <a:spAutoFit/>
          </a:bodyPr>
          <a:lstStyle/>
          <a:p>
            <a:pPr algn="l"/>
            <a:r>
              <a:rPr sz="1200" b="1">
                <a:solidFill>
                  <a:srgbClr val="F2B705"/>
                </a:solidFill>
                <a:latin typeface="Aptos"/>
              </a:rPr>
              <a:t>06</a:t>
            </a:r>
          </a:p>
        </p:txBody>
      </p:sp>
      <p:sp>
        <p:nvSpPr>
          <p:cNvPr id="27" name="TextBox 26"/>
          <p:cNvSpPr txBox="1"/>
          <p:nvPr/>
        </p:nvSpPr>
        <p:spPr>
          <a:xfrm>
            <a:off x="7754112" y="4206240"/>
            <a:ext cx="2606040" cy="411480"/>
          </a:xfrm>
          <a:prstGeom prst="rect">
            <a:avLst/>
          </a:prstGeom>
          <a:noFill/>
        </p:spPr>
        <p:txBody>
          <a:bodyPr wrap="square" anchor="ctr">
            <a:spAutoFit/>
          </a:bodyPr>
          <a:lstStyle/>
          <a:p>
            <a:pPr algn="l"/>
            <a:r>
              <a:rPr sz="1700" b="1">
                <a:solidFill>
                  <a:srgbClr val="10244A"/>
                </a:solidFill>
                <a:latin typeface="Aptos"/>
              </a:rPr>
              <a:t>Shopping Experience</a:t>
            </a:r>
          </a:p>
        </p:txBody>
      </p:sp>
      <p:sp>
        <p:nvSpPr>
          <p:cNvPr id="28" name="TextBox 27"/>
          <p:cNvSpPr txBox="1"/>
          <p:nvPr/>
        </p:nvSpPr>
        <p:spPr>
          <a:xfrm>
            <a:off x="7754112" y="4636008"/>
            <a:ext cx="2606040" cy="530352"/>
          </a:xfrm>
          <a:prstGeom prst="rect">
            <a:avLst/>
          </a:prstGeom>
          <a:noFill/>
        </p:spPr>
        <p:txBody>
          <a:bodyPr wrap="square" anchor="ctr">
            <a:spAutoFit/>
          </a:bodyPr>
          <a:lstStyle/>
          <a:p>
            <a:pPr algn="l"/>
            <a:r>
              <a:rPr sz="1200" b="0">
                <a:solidFill>
                  <a:srgbClr val="5B6472"/>
                </a:solidFill>
                <a:latin typeface="Aptos"/>
              </a:rPr>
              <a:t>Move between providers and product options from one interface.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square" anchor="ctr">
            <a:spAutoFit/>
          </a:bodyPr>
          <a:lstStyle/>
          <a:p>
            <a:pPr algn="l"/>
            <a:r>
              <a:rPr sz="2800" b="1">
                <a:solidFill>
                  <a:srgbClr val="10244A"/>
                </a:solidFill>
                <a:latin typeface="Aptos"/>
              </a:rPr>
              <a:t>High-Fidelity Prototype</a:t>
            </a:r>
          </a:p>
        </p:txBody>
      </p:sp>
      <p:sp>
        <p:nvSpPr>
          <p:cNvPr id="3" name="Rectangle 2"/>
          <p:cNvSpPr/>
          <p:nvPr/>
        </p:nvSpPr>
        <p:spPr>
          <a:xfrm>
            <a:off x="685800" y="1078992"/>
            <a:ext cx="1051560" cy="54864"/>
          </a:xfrm>
          <a:prstGeom prst="rect">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74519" y="932688"/>
            <a:ext cx="9144000" cy="365760"/>
          </a:xfrm>
          <a:prstGeom prst="rect">
            <a:avLst/>
          </a:prstGeom>
          <a:noFill/>
        </p:spPr>
        <p:txBody>
          <a:bodyPr wrap="square" anchor="ctr">
            <a:spAutoFit/>
          </a:bodyPr>
          <a:lstStyle/>
          <a:p>
            <a:pPr algn="l"/>
            <a:r>
              <a:rPr sz="1200" b="0">
                <a:solidFill>
                  <a:srgbClr val="5B6472"/>
                </a:solidFill>
                <a:latin typeface="Aptos"/>
              </a:rPr>
              <a:t>Current milestone: user interface and interaction flow</a:t>
            </a:r>
          </a:p>
        </p:txBody>
      </p:sp>
      <p:sp>
        <p:nvSpPr>
          <p:cNvPr id="5" name="Rounded Rectangle 4"/>
          <p:cNvSpPr/>
          <p:nvPr/>
        </p:nvSpPr>
        <p:spPr>
          <a:xfrm>
            <a:off x="909860" y="1463040"/>
            <a:ext cx="5166360" cy="4343400"/>
          </a:xfrm>
          <a:prstGeom prst="roundRect">
            <a:avLst/>
          </a:prstGeom>
          <a:solidFill>
            <a:srgbClr val="FFFFFF"/>
          </a:solidFill>
          <a:ln>
            <a:solidFill>
              <a:srgbClr val="E0E3E8"/>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a:solidFill>
                <a:srgbClr val="000000"/>
              </a:solidFill>
              <a:latin typeface="Aptos"/>
            </a:endParaRPr>
          </a:p>
        </p:txBody>
      </p:sp>
      <p:sp>
        <p:nvSpPr>
          <p:cNvPr id="10" name="Rounded Rectangle 9"/>
          <p:cNvSpPr/>
          <p:nvPr/>
        </p:nvSpPr>
        <p:spPr>
          <a:xfrm>
            <a:off x="6312278" y="1463040"/>
            <a:ext cx="5166360" cy="4343400"/>
          </a:xfrm>
          <a:prstGeom prst="roundRect">
            <a:avLst/>
          </a:prstGeom>
          <a:solidFill>
            <a:srgbClr val="10244A"/>
          </a:solidFill>
          <a:ln>
            <a:solidFill>
              <a:srgbClr val="1024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1783080"/>
            <a:ext cx="4480560" cy="411480"/>
          </a:xfrm>
          <a:prstGeom prst="rect">
            <a:avLst/>
          </a:prstGeom>
          <a:noFill/>
        </p:spPr>
        <p:txBody>
          <a:bodyPr wrap="square" anchor="ctr">
            <a:spAutoFit/>
          </a:bodyPr>
          <a:lstStyle/>
          <a:p>
            <a:pPr algn="l"/>
            <a:r>
              <a:rPr sz="1800" b="1">
                <a:solidFill>
                  <a:srgbClr val="FFFFFF"/>
                </a:solidFill>
                <a:latin typeface="Aptos"/>
              </a:rPr>
              <a:t>CAMERON WILKERSON</a:t>
            </a:r>
          </a:p>
        </p:txBody>
      </p:sp>
      <p:sp>
        <p:nvSpPr>
          <p:cNvPr id="12" name="TextBox 11"/>
          <p:cNvSpPr txBox="1"/>
          <p:nvPr/>
        </p:nvSpPr>
        <p:spPr>
          <a:xfrm>
            <a:off x="6583680" y="2212848"/>
            <a:ext cx="4480560" cy="365760"/>
          </a:xfrm>
          <a:prstGeom prst="rect">
            <a:avLst/>
          </a:prstGeom>
          <a:noFill/>
        </p:spPr>
        <p:txBody>
          <a:bodyPr wrap="square" anchor="ctr">
            <a:spAutoFit/>
          </a:bodyPr>
          <a:lstStyle/>
          <a:p>
            <a:pPr algn="l"/>
            <a:r>
              <a:rPr sz="1400" b="1">
                <a:solidFill>
                  <a:srgbClr val="F2B705"/>
                </a:solidFill>
                <a:latin typeface="Aptos"/>
              </a:rPr>
              <a:t>My Prototype Contributions</a:t>
            </a:r>
          </a:p>
        </p:txBody>
      </p:sp>
      <p:sp>
        <p:nvSpPr>
          <p:cNvPr id="13" name="TextBox 12"/>
          <p:cNvSpPr txBox="1"/>
          <p:nvPr/>
        </p:nvSpPr>
        <p:spPr>
          <a:xfrm>
            <a:off x="6585950" y="2577220"/>
            <a:ext cx="4297680" cy="2862322"/>
          </a:xfrm>
          <a:prstGeom prst="rect">
            <a:avLst/>
          </a:prstGeom>
          <a:noFill/>
        </p:spPr>
        <p:txBody>
          <a:bodyPr wrap="square" lIns="91440" tIns="45720" rIns="91440" bIns="45720" anchor="ctr">
            <a:spAutoFit/>
          </a:bodyPr>
          <a:lstStyle/>
          <a:p>
            <a:pPr marL="285750" indent="-285750">
              <a:buFont typeface="Arial"/>
              <a:buChar char="•"/>
            </a:pPr>
            <a:r>
              <a:rPr lang="en-US" sz="1500">
                <a:solidFill>
                  <a:srgbClr val="FFFFFF"/>
                </a:solidFill>
                <a:ea typeface="+mn-lt"/>
                <a:cs typeface="+mn-lt"/>
              </a:rPr>
              <a:t>Designed the </a:t>
            </a:r>
            <a:r>
              <a:rPr lang="en-US" sz="1500" b="1">
                <a:solidFill>
                  <a:srgbClr val="FFFFFF"/>
                </a:solidFill>
                <a:ea typeface="+mn-lt"/>
                <a:cs typeface="+mn-lt"/>
              </a:rPr>
              <a:t>customer-facing interface</a:t>
            </a:r>
            <a:r>
              <a:rPr lang="en-US" sz="1500">
                <a:solidFill>
                  <a:srgbClr val="FFFFFF"/>
                </a:solidFill>
                <a:ea typeface="+mn-lt"/>
                <a:cs typeface="+mn-lt"/>
              </a:rPr>
              <a:t> </a:t>
            </a:r>
            <a:endParaRPr lang="en-US"/>
          </a:p>
          <a:p>
            <a:endParaRPr lang="en-US" sz="1500">
              <a:solidFill>
                <a:srgbClr val="FFFFFF"/>
              </a:solidFill>
              <a:ea typeface="+mn-lt"/>
              <a:cs typeface="+mn-lt"/>
            </a:endParaRPr>
          </a:p>
          <a:p>
            <a:pPr marL="285750" indent="-285750">
              <a:buFont typeface="Arial"/>
              <a:buChar char="•"/>
            </a:pPr>
            <a:r>
              <a:rPr lang="en-US" sz="1500">
                <a:solidFill>
                  <a:srgbClr val="FFFFFF"/>
                </a:solidFill>
                <a:ea typeface="+mn-lt"/>
                <a:cs typeface="+mn-lt"/>
              </a:rPr>
              <a:t>Created the </a:t>
            </a:r>
            <a:r>
              <a:rPr lang="en-US" sz="1500" b="1">
                <a:solidFill>
                  <a:srgbClr val="FFFFFF"/>
                </a:solidFill>
                <a:ea typeface="+mn-lt"/>
                <a:cs typeface="+mn-lt"/>
              </a:rPr>
              <a:t>clothing browsing experience</a:t>
            </a:r>
            <a:r>
              <a:rPr lang="en-US" sz="1500">
                <a:solidFill>
                  <a:srgbClr val="FFFFFF"/>
                </a:solidFill>
                <a:ea typeface="+mn-lt"/>
                <a:cs typeface="+mn-lt"/>
              </a:rPr>
              <a:t> </a:t>
            </a:r>
            <a:endParaRPr lang="en-US"/>
          </a:p>
          <a:p>
            <a:pPr marL="285750" indent="-285750">
              <a:buFont typeface="Arial"/>
              <a:buChar char="•"/>
            </a:pPr>
            <a:endParaRPr lang="en-US" sz="1500">
              <a:solidFill>
                <a:srgbClr val="FFFFFF"/>
              </a:solidFill>
              <a:ea typeface="+mn-lt"/>
              <a:cs typeface="+mn-lt"/>
            </a:endParaRPr>
          </a:p>
          <a:p>
            <a:pPr marL="285750" indent="-285750">
              <a:buFont typeface="Arial"/>
              <a:buChar char="•"/>
            </a:pPr>
            <a:r>
              <a:rPr lang="en-US" sz="1500">
                <a:solidFill>
                  <a:srgbClr val="FFFFFF"/>
                </a:solidFill>
                <a:ea typeface="+mn-lt"/>
                <a:cs typeface="+mn-lt"/>
              </a:rPr>
              <a:t>Built the </a:t>
            </a:r>
            <a:r>
              <a:rPr lang="en-US" sz="1500" b="1">
                <a:solidFill>
                  <a:srgbClr val="FFFFFF"/>
                </a:solidFill>
                <a:ea typeface="+mn-lt"/>
                <a:cs typeface="+mn-lt"/>
              </a:rPr>
              <a:t>provider subscription interface</a:t>
            </a:r>
            <a:r>
              <a:rPr lang="en-US" sz="1500">
                <a:solidFill>
                  <a:srgbClr val="FFFFFF"/>
                </a:solidFill>
                <a:ea typeface="+mn-lt"/>
                <a:cs typeface="+mn-lt"/>
              </a:rPr>
              <a:t> </a:t>
            </a:r>
            <a:endParaRPr lang="en-US"/>
          </a:p>
          <a:p>
            <a:pPr marL="285750" indent="-285750">
              <a:buFont typeface="Arial"/>
              <a:buChar char="•"/>
            </a:pPr>
            <a:endParaRPr lang="en-US" sz="1500">
              <a:solidFill>
                <a:srgbClr val="FFFFFF"/>
              </a:solidFill>
              <a:ea typeface="+mn-lt"/>
              <a:cs typeface="+mn-lt"/>
            </a:endParaRPr>
          </a:p>
          <a:p>
            <a:pPr marL="285750" indent="-285750">
              <a:buFont typeface="Arial"/>
              <a:buChar char="•"/>
            </a:pPr>
            <a:r>
              <a:rPr lang="en-US" sz="1500">
                <a:solidFill>
                  <a:srgbClr val="FFFFFF"/>
                </a:solidFill>
                <a:ea typeface="+mn-lt"/>
                <a:cs typeface="+mn-lt"/>
              </a:rPr>
              <a:t>Created the </a:t>
            </a:r>
            <a:r>
              <a:rPr lang="en-US" sz="1500" b="1">
                <a:solidFill>
                  <a:srgbClr val="FFFFFF"/>
                </a:solidFill>
                <a:ea typeface="+mn-lt"/>
                <a:cs typeface="+mn-lt"/>
              </a:rPr>
              <a:t>customer review section</a:t>
            </a:r>
            <a:r>
              <a:rPr lang="en-US" sz="1500">
                <a:solidFill>
                  <a:srgbClr val="FFFFFF"/>
                </a:solidFill>
                <a:ea typeface="+mn-lt"/>
                <a:cs typeface="+mn-lt"/>
              </a:rPr>
              <a:t> </a:t>
            </a:r>
            <a:endParaRPr lang="en-US"/>
          </a:p>
          <a:p>
            <a:pPr marL="285750" indent="-285750">
              <a:buFont typeface="Arial"/>
              <a:buChar char="•"/>
            </a:pPr>
            <a:endParaRPr lang="en-US" sz="1500">
              <a:solidFill>
                <a:srgbClr val="FFFFFF"/>
              </a:solidFill>
              <a:ea typeface="+mn-lt"/>
              <a:cs typeface="+mn-lt"/>
            </a:endParaRPr>
          </a:p>
          <a:p>
            <a:pPr marL="285750" indent="-285750">
              <a:buFont typeface="Arial"/>
              <a:buChar char="•"/>
            </a:pPr>
            <a:r>
              <a:rPr lang="en-US" sz="1500">
                <a:solidFill>
                  <a:srgbClr val="FFFFFF"/>
                </a:solidFill>
                <a:ea typeface="+mn-lt"/>
                <a:cs typeface="+mn-lt"/>
              </a:rPr>
              <a:t>Developed the </a:t>
            </a:r>
            <a:r>
              <a:rPr lang="en-US" sz="1500" b="1">
                <a:solidFill>
                  <a:srgbClr val="FFFFFF"/>
                </a:solidFill>
                <a:ea typeface="+mn-lt"/>
                <a:cs typeface="+mn-lt"/>
              </a:rPr>
              <a:t>customer profile page</a:t>
            </a:r>
            <a:r>
              <a:rPr lang="en-US" sz="1500">
                <a:solidFill>
                  <a:srgbClr val="FFFFFF"/>
                </a:solidFill>
                <a:ea typeface="+mn-lt"/>
                <a:cs typeface="+mn-lt"/>
              </a:rPr>
              <a:t> </a:t>
            </a:r>
            <a:endParaRPr lang="en-US"/>
          </a:p>
          <a:p>
            <a:pPr marL="285750" indent="-285750">
              <a:buFont typeface="Arial"/>
              <a:buChar char="•"/>
            </a:pPr>
            <a:endParaRPr lang="en-US" sz="1500">
              <a:solidFill>
                <a:srgbClr val="FFFFFF"/>
              </a:solidFill>
              <a:ea typeface="+mn-lt"/>
              <a:cs typeface="+mn-lt"/>
            </a:endParaRPr>
          </a:p>
          <a:p>
            <a:pPr marL="285750" indent="-285750">
              <a:buFont typeface="Arial"/>
              <a:buChar char="•"/>
            </a:pPr>
            <a:r>
              <a:rPr lang="en-US" sz="1500">
                <a:solidFill>
                  <a:srgbClr val="FFFFFF"/>
                </a:solidFill>
                <a:ea typeface="+mn-lt"/>
                <a:cs typeface="+mn-lt"/>
              </a:rPr>
              <a:t>Focused on </a:t>
            </a:r>
            <a:r>
              <a:rPr lang="en-US" sz="1500" b="1">
                <a:solidFill>
                  <a:srgbClr val="FFFFFF"/>
                </a:solidFill>
                <a:ea typeface="+mn-lt"/>
                <a:cs typeface="+mn-lt"/>
              </a:rPr>
              <a:t>navigation and usability</a:t>
            </a:r>
            <a:endParaRPr lang="en-US"/>
          </a:p>
          <a:p>
            <a:pPr algn="l"/>
            <a:endParaRPr sz="1500" b="0">
              <a:solidFill>
                <a:srgbClr val="FFFFFF"/>
              </a:solidFill>
              <a:latin typeface="Aptos"/>
            </a:endParaRPr>
          </a:p>
        </p:txBody>
      </p:sp>
      <p:sp>
        <p:nvSpPr>
          <p:cNvPr id="17" name="TextBox 16"/>
          <p:cNvSpPr txBox="1"/>
          <p:nvPr/>
        </p:nvSpPr>
        <p:spPr>
          <a:xfrm>
            <a:off x="6583680" y="5230368"/>
            <a:ext cx="4434840" cy="411480"/>
          </a:xfrm>
          <a:prstGeom prst="rect">
            <a:avLst/>
          </a:prstGeom>
          <a:noFill/>
        </p:spPr>
        <p:txBody>
          <a:bodyPr wrap="square" anchor="ctr">
            <a:spAutoFit/>
          </a:bodyPr>
          <a:lstStyle/>
          <a:p>
            <a:pPr algn="l"/>
            <a:r>
              <a:rPr sz="1200" b="1">
                <a:solidFill>
                  <a:srgbClr val="FFFFFF"/>
                </a:solidFill>
                <a:latin typeface="Aptos"/>
              </a:rPr>
              <a:t>Demo flow: Home → Provider → Subscribe → Reviews</a:t>
            </a:r>
          </a:p>
        </p:txBody>
      </p:sp>
      <p:sp>
        <p:nvSpPr>
          <p:cNvPr id="19" name="TextBox 18">
            <a:extLst>
              <a:ext uri="{FF2B5EF4-FFF2-40B4-BE49-F238E27FC236}">
                <a16:creationId xmlns:a16="http://schemas.microsoft.com/office/drawing/2014/main" id="{4F61563C-B63C-7FAF-9EA0-E7D00768835F}"/>
              </a:ext>
            </a:extLst>
          </p:cNvPr>
          <p:cNvSpPr txBox="1"/>
          <p:nvPr/>
        </p:nvSpPr>
        <p:spPr>
          <a:xfrm>
            <a:off x="1621276" y="1718553"/>
            <a:ext cx="2853446"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tos"/>
                <a:ea typeface="Calibri"/>
                <a:cs typeface="Calibri"/>
              </a:rPr>
              <a:t>RJ Hester</a:t>
            </a:r>
            <a:endParaRPr lang="en-US"/>
          </a:p>
          <a:p>
            <a:endParaRPr lang="en-US" sz="1400" b="1">
              <a:solidFill>
                <a:srgbClr val="F2B705"/>
              </a:solidFill>
              <a:latin typeface="Aptos"/>
              <a:ea typeface="Calibri"/>
              <a:cs typeface="Calibri"/>
            </a:endParaRPr>
          </a:p>
          <a:p>
            <a:endParaRPr lang="en-US">
              <a:ea typeface="Calibri"/>
              <a:cs typeface="Calibri"/>
            </a:endParaRPr>
          </a:p>
        </p:txBody>
      </p:sp>
      <p:sp>
        <p:nvSpPr>
          <p:cNvPr id="21" name="TextBox 20">
            <a:extLst>
              <a:ext uri="{FF2B5EF4-FFF2-40B4-BE49-F238E27FC236}">
                <a16:creationId xmlns:a16="http://schemas.microsoft.com/office/drawing/2014/main" id="{2BAFC904-DED5-4BD7-41F5-8D2893E876E5}"/>
              </a:ext>
            </a:extLst>
          </p:cNvPr>
          <p:cNvSpPr txBox="1"/>
          <p:nvPr/>
        </p:nvSpPr>
        <p:spPr>
          <a:xfrm>
            <a:off x="1459148" y="2099411"/>
            <a:ext cx="372082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rgbClr val="F2B705"/>
                </a:solidFill>
                <a:latin typeface="Aptos"/>
              </a:rPr>
              <a:t>My Prototype Contributions</a:t>
            </a:r>
            <a:endParaRPr lang="en-US" sz="1400">
              <a:latin typeface="Aptos"/>
            </a:endParaRPr>
          </a:p>
          <a:p>
            <a:pPr algn="l"/>
            <a:endParaRPr lang="en-US">
              <a:ea typeface="Calibri"/>
              <a:cs typeface="Calibri"/>
            </a:endParaRPr>
          </a:p>
        </p:txBody>
      </p:sp>
      <p:sp>
        <p:nvSpPr>
          <p:cNvPr id="27" name="TextBox 26">
            <a:extLst>
              <a:ext uri="{FF2B5EF4-FFF2-40B4-BE49-F238E27FC236}">
                <a16:creationId xmlns:a16="http://schemas.microsoft.com/office/drawing/2014/main" id="{22DE90D4-0488-07A0-CA6F-F123008AA009}"/>
              </a:ext>
            </a:extLst>
          </p:cNvPr>
          <p:cNvSpPr txBox="1"/>
          <p:nvPr/>
        </p:nvSpPr>
        <p:spPr>
          <a:xfrm>
            <a:off x="1459148" y="2462599"/>
            <a:ext cx="3566808" cy="38010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pPr>
            <a:r>
              <a:rPr lang="en-US" sz="1600"/>
              <a:t>Designed the </a:t>
            </a:r>
            <a:r>
              <a:rPr lang="en-US" sz="1600" b="1"/>
              <a:t>Provider Portal interface</a:t>
            </a:r>
            <a:r>
              <a:rPr lang="en-US" sz="1600"/>
              <a:t> </a:t>
            </a:r>
          </a:p>
          <a:p>
            <a:pPr marL="285750" lvl="0" indent="-285750">
              <a:buFont typeface="Arial" panose="020B0604020202020204" pitchFamily="34" charset="0"/>
              <a:buChar char="•"/>
            </a:pPr>
            <a:r>
              <a:rPr lang="en-US" sz="1600"/>
              <a:t>Built </a:t>
            </a:r>
            <a:r>
              <a:rPr lang="en-US" sz="1600" b="1"/>
              <a:t>provider profile management</a:t>
            </a:r>
            <a:r>
              <a:rPr lang="en-US" sz="1600"/>
              <a:t> </a:t>
            </a:r>
          </a:p>
          <a:p>
            <a:pPr marL="285750" lvl="0" indent="-285750">
              <a:buFont typeface="Arial" panose="020B0604020202020204" pitchFamily="34" charset="0"/>
              <a:buChar char="•"/>
            </a:pPr>
            <a:r>
              <a:rPr lang="en-US" sz="1600"/>
              <a:t>Created </a:t>
            </a:r>
            <a:r>
              <a:rPr lang="en-US" sz="1600" b="1"/>
              <a:t>product management</a:t>
            </a:r>
            <a:r>
              <a:rPr lang="en-US" sz="1600"/>
              <a:t> with add, edit, remove, and search functionality </a:t>
            </a:r>
          </a:p>
          <a:p>
            <a:pPr marL="285750" lvl="0" indent="-285750">
              <a:buFont typeface="Arial" panose="020B0604020202020204" pitchFamily="34" charset="0"/>
              <a:buChar char="•"/>
            </a:pPr>
            <a:r>
              <a:rPr lang="en-US" sz="1600"/>
              <a:t>Developed </a:t>
            </a:r>
            <a:r>
              <a:rPr lang="en-US" sz="1600" b="1"/>
              <a:t>activity tracking and customer review replies</a:t>
            </a:r>
            <a:r>
              <a:rPr lang="en-US" sz="1600"/>
              <a:t> </a:t>
            </a:r>
          </a:p>
          <a:p>
            <a:pPr marL="285750" lvl="0" indent="-285750">
              <a:buFont typeface="Arial" panose="020B0604020202020204" pitchFamily="34" charset="0"/>
              <a:buChar char="•"/>
            </a:pPr>
            <a:r>
              <a:rPr lang="en-US" sz="1600"/>
              <a:t>Designed the </a:t>
            </a:r>
            <a:r>
              <a:rPr lang="en-US" sz="1600" b="1"/>
              <a:t>Sys-Admin dashboard</a:t>
            </a:r>
            <a:r>
              <a:rPr lang="en-US" sz="1600"/>
              <a:t> </a:t>
            </a:r>
          </a:p>
          <a:p>
            <a:pPr marL="285750" lvl="0" indent="-285750">
              <a:buFont typeface="Arial" panose="020B0604020202020204" pitchFamily="34" charset="0"/>
              <a:buChar char="•"/>
            </a:pPr>
            <a:r>
              <a:rPr lang="en-US" sz="1600"/>
              <a:t>Built </a:t>
            </a:r>
            <a:r>
              <a:rPr lang="en-US" sz="1600" b="1"/>
              <a:t>review moderation and usage statistics</a:t>
            </a:r>
            <a:r>
              <a:rPr lang="en-US" sz="1600"/>
              <a:t> </a:t>
            </a:r>
          </a:p>
          <a:p>
            <a:pPr marL="285750" lvl="0" indent="-285750">
              <a:buFont typeface="Arial" panose="020B0604020202020204" pitchFamily="34" charset="0"/>
              <a:buChar char="•"/>
            </a:pPr>
            <a:r>
              <a:rPr lang="en-US" sz="1600"/>
              <a:t>Added interactive navigation and functionality with </a:t>
            </a:r>
            <a:r>
              <a:rPr lang="en-US" sz="1600" b="1"/>
              <a:t>JavaScript</a:t>
            </a:r>
            <a:endParaRPr lang="en-US" sz="1600"/>
          </a:p>
          <a:p>
            <a:pPr marL="285750" indent="-285750">
              <a:buFont typeface="Arial" panose="020B0604020202020204" pitchFamily="34" charset="0"/>
              <a:buChar char="•"/>
            </a:pPr>
            <a:endParaRPr lang="en-US" sz="1500">
              <a:latin typeface="Aptos"/>
            </a:endParaRPr>
          </a:p>
          <a:p>
            <a:pPr algn="l"/>
            <a:endParaRPr lang="en-US">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2761ec8-7198-4440-bea0-e9dd2af28b51}" enabled="1" method="Standard" siteId="{73e15cf5-5dbb-46af-a862-753916269d7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2</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4</cp:revision>
  <dcterms:created xsi:type="dcterms:W3CDTF">2013-01-27T09:14:16Z</dcterms:created>
  <dcterms:modified xsi:type="dcterms:W3CDTF">2026-09-24T04:08:07Z</dcterms:modified>
  <cp:category/>
</cp:coreProperties>
</file>